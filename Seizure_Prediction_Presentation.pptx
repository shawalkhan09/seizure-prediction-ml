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C3353"/>
          </a:solidFill>
          <a:ln w="12700">
            <a:solidFill>
              <a:srgbClr val="1C33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65760"/>
            <a:ext cx="1371600" cy="1371600"/>
          </a:xfrm>
          <a:prstGeom prst="ellipse">
            <a:avLst/>
          </a:prstGeom>
          <a:solidFill>
            <a:srgbClr val="1C3353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347472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</a:rPr>
              <a:t>SEIZURE PREDICTION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3C5FD"/>
                </a:solidFill>
              </a:rPr>
              <a:t>Preprocessing, Regularisation &amp; Generalisation in EEG Analysis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54864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Semester Major Assignment  </a:t>
            </a:r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</a:rPr>
              <a:t>|  Machine Learning  |  May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173736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0050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44074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Datasets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3977640"/>
            <a:ext cx="173736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40050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14600" y="44074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Pipelines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977640"/>
            <a:ext cx="173736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40050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0" y="44074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Regularisers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9400" y="3977640"/>
            <a:ext cx="173736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40050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629400" y="44074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Imbalance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Research Questions &amp;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051560"/>
            <a:ext cx="76809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051560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124712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Does preprocessing ORDER affect generalisation performance?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5029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1920240"/>
            <a:ext cx="76809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1920240"/>
            <a:ext cx="54864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1993392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Which regularisation method generalises best across datasets?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5029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2788920"/>
            <a:ext cx="76809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278892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2862072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Does Elastic Net consistently outperform L1/L2?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50292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3657600"/>
            <a:ext cx="76809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3657600"/>
            <a:ext cx="54864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3730752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How does imbalance handling INTERACT with regularisation?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Methodology: Logistic Regression  ·  3 Datasets  ·  2 Pipelines  ·  L1/L2/EN  ·  SMOTE/Weighting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Collection &amp; Justification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" y="1051560"/>
            <a:ext cx="73152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371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124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UCI Epileptic Seizure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4904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Raw EEG time-series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234440"/>
            <a:ext cx="91440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12710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11,500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16002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Samples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65392" y="1234440"/>
            <a:ext cx="91440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12710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178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65392" y="16002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Features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44384" y="1234440"/>
            <a:ext cx="91440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44384" y="12710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44384" y="16002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Seizure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350008"/>
            <a:ext cx="85039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350008"/>
            <a:ext cx="54864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" y="2350008"/>
            <a:ext cx="7315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" y="267004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CHB-MIT Style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Extracted features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2532888"/>
            <a:ext cx="9144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256946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5,000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0" y="28986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Samples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65392" y="2532888"/>
            <a:ext cx="9144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65392" y="256946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65392" y="28986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Features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44384" y="2532888"/>
            <a:ext cx="9144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44384" y="256946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644384" y="28986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Seizure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648456"/>
            <a:ext cx="85039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648456"/>
            <a:ext cx="54864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4904" y="3648456"/>
            <a:ext cx="73152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" y="396849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234440" y="37216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High-Imbalance EEG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34440" y="4087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Mixed (w/ redundancy)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0" y="3831336"/>
            <a:ext cx="9144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0" y="38679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8,000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486400" y="4197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Samples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65392" y="3831336"/>
            <a:ext cx="9144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565392" y="38679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50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565392" y="4197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Features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44384" y="3831336"/>
            <a:ext cx="9144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644384" y="38679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5%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644384" y="4197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Seizure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Preprocessing Pipelines A vs 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PIPELINE A — Filter-First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023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1. StandardScaler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2103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58568"/>
            <a:ext cx="4023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350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2. VarianceThreshold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76148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16936"/>
            <a:ext cx="4023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0083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3. SelectKBest (f_classif)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34198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75304"/>
            <a:ext cx="4023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6667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4. LogisticRegression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PIPELINE B — Compress-First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600200"/>
            <a:ext cx="402336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1. StatFeatureExtractor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103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258568"/>
            <a:ext cx="402336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350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2. MinMaxScaler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276148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916936"/>
            <a:ext cx="402336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0083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3. PCA (95% variance)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4198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575304"/>
            <a:ext cx="402336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36667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4. LogisticRegression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⚡ Key Insight: Scale BEFORE Select — prevents amplitude bias in feature selection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Overfitting &amp; Underfitting Demonstration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520440"/>
          </a:xfrm>
          <a:prstGeom prst="rect">
            <a:avLst/>
          </a:prstGeom>
          <a:solidFill>
            <a:srgbClr val="FAFAFA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📉 UNDERFITTING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 Value: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0.0001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Features: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2286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 F1: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7889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0.412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Test F1: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3291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0.398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GAP: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3794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+0.014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297680"/>
            <a:ext cx="256032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3708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7706"/>
                </a:solidFill>
              </a:rPr>
              <a:t>High Bias — model too simple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005840"/>
            <a:ext cx="2743200" cy="3520440"/>
          </a:xfrm>
          <a:prstGeom prst="rect">
            <a:avLst/>
          </a:prstGeom>
          <a:solidFill>
            <a:srgbClr val="FAFAFA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005840"/>
            <a:ext cx="27432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GOOD FIT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1783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 Value: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1783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1.0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22860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Features: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2286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30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2788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 F1: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27889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0.791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291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Test F1: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3291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0.743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37947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GAP: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3794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+0.048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37560" y="4297680"/>
            <a:ext cx="2560320" cy="137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3708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6A34A"/>
                </a:solidFill>
              </a:rPr>
              <a:t>Balanced bias-variance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1005840"/>
            <a:ext cx="2743200" cy="3520440"/>
          </a:xfrm>
          <a:prstGeom prst="rect">
            <a:avLst/>
          </a:prstGeom>
          <a:solidFill>
            <a:srgbClr val="FAFAFA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1005840"/>
            <a:ext cx="274320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OVERFITTING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1783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 Value: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1783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10,000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22860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Features: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69480" y="2286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178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09360" y="2788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 F1: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69480" y="27889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0.967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09360" y="3291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Test F1: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69480" y="3291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0.681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09360" y="37947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GAP: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69480" y="3794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+0.286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63640" y="4297680"/>
            <a:ext cx="256032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43708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</a:rPr>
              <a:t>High Variance — memorised training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Regularisation Study: L1 vs L2 vs Elastic Net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292608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L1 (Lasso)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Sparsity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5681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74%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PR-AUC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77977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0.721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Automatic 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elimination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697480" cy="2926080"/>
          </a:xfrm>
          <a:prstGeom prst="rect">
            <a:avLst/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05840"/>
            <a:ext cx="26974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33272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L2 (Ridge)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719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Sparsity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95681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83280" y="25420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PR-AUC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77977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0.718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37560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Shrinks 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coefficients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697480" cy="292608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05840"/>
            <a:ext cx="269748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033272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Elastic Net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1719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Sparsity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195681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41%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63640" y="25420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PR-AUC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77977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0.739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0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Best of both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worlds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069080"/>
            <a:ext cx="8503920" cy="566928"/>
          </a:xfrm>
          <a:prstGeom prst="rect">
            <a:avLst/>
          </a:prstGeom>
          <a:solidFill>
            <a:srgbClr val="F0FDFA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E4C"/>
                </a:solidFill>
              </a:rPr>
              <a:t>🏆  Elastic Net achieves highest PR-AUC AND generalises most consistently across all 3 datasets (CV = 0.12 vs 0.18 for L1)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Handling Class Imbalance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8288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Strategy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005840"/>
            <a:ext cx="1371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0241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Precision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1005840"/>
            <a:ext cx="1371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0241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005840"/>
            <a:ext cx="1371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0241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005840"/>
            <a:ext cx="1371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0241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PR-AUC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600200"/>
            <a:ext cx="18288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733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No Correction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1600200"/>
            <a:ext cx="1371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6733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0.821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1600200"/>
            <a:ext cx="1371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6733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0.314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0640" y="1600200"/>
            <a:ext cx="1371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6733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0.455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1600200"/>
            <a:ext cx="1371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6733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0.521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219456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2677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</a:rPr>
              <a:t>Class Weighting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21945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22677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0.621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0" y="21945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22677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0.683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120640" y="21945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2677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0.651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0" y="21945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2677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0.713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2788920"/>
            <a:ext cx="18288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8620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SMOTE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94560" y="2788920"/>
            <a:ext cx="1371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2862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0.598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0" y="2788920"/>
            <a:ext cx="1371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2862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0.724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20640" y="2788920"/>
            <a:ext cx="1371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2862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0.655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583680" y="2788920"/>
            <a:ext cx="1371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862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0.731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338328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4564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Undersampling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94560" y="338328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3456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0.581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657600" y="338328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3456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0.701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120640" y="338328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3456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0.635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583680" y="338328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3456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0.698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74320" y="4096512"/>
            <a:ext cx="8138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4133088"/>
            <a:ext cx="81381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169664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⚠️ Clinical Insight: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No-correction model misses 69% of seizures (recall=0.314). All correction strategies substantially improve recall — in clinical settings, false negatives (missed seizures) are far more dangerous than false alarms.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Comparative Analysis — Key Answers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822960"/>
          </a:xfrm>
          <a:prstGeom prst="rect">
            <a:avLst/>
          </a:prstGeom>
          <a:solidFill>
            <a:srgbClr val="FAFAFA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Q1: Does preprocessing order matter?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YES — Scale-first outperforms select-first by 2–5% PR-AUC. High-amplitude EEG channels bias feature selection without prior normalisation.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8503920" cy="822960"/>
          </a:xfrm>
          <a:prstGeom prst="rect">
            <a:avLst/>
          </a:prstGeom>
          <a:solidFill>
            <a:srgbClr val="FAFAFA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11680"/>
            <a:ext cx="54864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Q2: Best regularisation across datasets?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Elastic Net — highest mean PR-AUC, lowest variance (CV=0.12). L1 best for sparsity/interpretability; L2 best for dense feature sets.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8503920" cy="822960"/>
          </a:xfrm>
          <a:prstGeom prst="rect">
            <a:avLst/>
          </a:prstGeom>
          <a:solidFill>
            <a:srgbClr val="FAFAF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Q3: Does Elastic Net always win?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192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Not universally — L2 matches EN on dense 23-feature dataset; L1+SMOTE matches EN on extreme imbalance. EN is the safest default.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solidFill>
            <a:srgbClr val="FAFAFA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931920"/>
            <a:ext cx="54864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7764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Q4: Imbalance × Regularisation interaction?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2793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L1 benefits most from SMOTE (+2.4% PR-AUC). L2/EN robust to choice. With L1, prefer SMOTE; with L2/EN, class weighting suffices.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C3353"/>
          </a:solidFill>
          <a:ln w="12700">
            <a:solidFill>
              <a:srgbClr val="1C33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9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1430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Preprocessing order matters — scale before select for unbiased feature selection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28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6916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Elastic Net is the most robust regularisation across diverse EEG datasets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76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2402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L1 provides valuable clinical interpretability via automatic feature elimination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25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7889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SMOTE is preferred with L1; class weighting suffices for L2 &amp; Elastic Net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74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3375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PR-AUC is the appropriate metric for seizure prediction (not accuracy)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0" y="44348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BD5E0"/>
                </a:solidFill>
              </a:rPr>
              <a:t>Thank you  ·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Prediction — Semester Assignment</dc:title>
  <dc:subject>PptxGenJS Presentation</dc:subject>
  <dc:creator>PptxGenJS</dc:creator>
  <cp:lastModifiedBy>PptxGenJS</cp:lastModifiedBy>
  <cp:revision>1</cp:revision>
  <dcterms:created xsi:type="dcterms:W3CDTF">2026-05-11T06:38:49Z</dcterms:created>
  <dcterms:modified xsi:type="dcterms:W3CDTF">2026-05-11T06:38:49Z</dcterms:modified>
</cp:coreProperties>
</file>